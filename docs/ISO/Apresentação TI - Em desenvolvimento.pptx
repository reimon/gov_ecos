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6" r:id="rId3"/>
    <p:sldId id="257" r:id="rId4"/>
    <p:sldId id="267" r:id="rId5"/>
    <p:sldId id="258" r:id="rId6"/>
    <p:sldId id="259" r:id="rId7"/>
    <p:sldId id="260" r:id="rId8"/>
    <p:sldId id="268" r:id="rId9"/>
    <p:sldId id="269" r:id="rId10"/>
    <p:sldId id="262" r:id="rId11"/>
    <p:sldId id="261" r:id="rId12"/>
    <p:sldId id="263" r:id="rId13"/>
    <p:sldId id="270" r:id="rId14"/>
    <p:sldId id="265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ExtraBold" panose="020B0604020202020204" charset="0"/>
      <p:bold r:id="rId21"/>
      <p:boldItalic r:id="rId22"/>
    </p:embeddedFont>
    <p:embeddedFont>
      <p:font typeface="Inter SemiBold" panose="020B060402020202020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Urbanist" panose="020B060402020202020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  <a:srgbClr val="0EA5E9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5808DD-6AA6-4BA9-B325-2F2748BC4982}">
  <a:tblStyle styleId="{AC5808DD-6AA6-4BA9-B325-2F2748BC49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3741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6199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6940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7290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38785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86000" y="4022377"/>
            <a:ext cx="7620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Diretrizes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proteção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dados,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acesso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terminais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conectividade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corporativa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na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Ecosmetics</a:t>
            </a:r>
            <a:r>
              <a:rPr lang="en-US" sz="18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132855"/>
            <a:ext cx="1160145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POLÍTICA DE SEGURANÇA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DA </a:t>
            </a:r>
            <a:r>
              <a:rPr lang="en-US" sz="54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INFORMAÇÃO</a:t>
            </a:r>
            <a:endParaRPr dirty="0">
              <a:solidFill>
                <a:srgbClr val="10B98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2;p14">
            <a:extLst>
              <a:ext uri="{FF2B5EF4-FFF2-40B4-BE49-F238E27FC236}">
                <a16:creationId xmlns:a16="http://schemas.microsoft.com/office/drawing/2014/main" id="{405F5EE7-BDD8-5E7C-FA85-F50265B4A6A6}"/>
              </a:ext>
            </a:extLst>
          </p:cNvPr>
          <p:cNvSpPr txBox="1"/>
          <p:nvPr/>
        </p:nvSpPr>
        <p:spPr>
          <a:xfrm>
            <a:off x="790575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OBJETIVO E ABRANGÊNCIA</a:t>
            </a:r>
            <a:endParaRPr dirty="0"/>
          </a:p>
        </p:txBody>
      </p:sp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DE311207-4EA6-EB52-6764-36EC5C0B59F3}"/>
              </a:ext>
            </a:extLst>
          </p:cNvPr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93;p14" descr="image.png">
            <a:extLst>
              <a:ext uri="{FF2B5EF4-FFF2-40B4-BE49-F238E27FC236}">
                <a16:creationId xmlns:a16="http://schemas.microsoft.com/office/drawing/2014/main" id="{0904A810-4DDA-4F38-B3C0-50ACC6BF2B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90762"/>
            <a:ext cx="5134356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97;p14">
            <a:extLst>
              <a:ext uri="{FF2B5EF4-FFF2-40B4-BE49-F238E27FC236}">
                <a16:creationId xmlns:a16="http://schemas.microsoft.com/office/drawing/2014/main" id="{C2B722EE-B933-3400-B66A-9FFFDBFA9C55}"/>
              </a:ext>
            </a:extLst>
          </p:cNvPr>
          <p:cNvSpPr txBox="1"/>
          <p:nvPr/>
        </p:nvSpPr>
        <p:spPr>
          <a:xfrm>
            <a:off x="907541" y="2979479"/>
            <a:ext cx="4462273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Estabelecer diretrizes corporativas para blindagem das informações, dados e ativos tecnológicos da Ecosmetics. Nosso compromisso é assegurar de forma irrestrita a confidencialidade, integridade, disponibilidade e conformidade total com a Lei Geral de Proteção de Dados (LGPD) e o SGQ.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C10988-45AD-E476-679D-92F6E308B8D1}"/>
              </a:ext>
            </a:extLst>
          </p:cNvPr>
          <p:cNvSpPr txBox="1"/>
          <p:nvPr/>
        </p:nvSpPr>
        <p:spPr>
          <a:xfrm>
            <a:off x="1383640" y="2475060"/>
            <a:ext cx="3510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O Propósito da Política</a:t>
            </a:r>
            <a:endParaRPr lang="pt-BR" sz="1800"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2" name="Google Shape;93;p14" descr="image.png">
            <a:extLst>
              <a:ext uri="{FF2B5EF4-FFF2-40B4-BE49-F238E27FC236}">
                <a16:creationId xmlns:a16="http://schemas.microsoft.com/office/drawing/2014/main" id="{E5CE6A78-5AC8-4263-EE3C-C2568E3653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6144" y="2290762"/>
            <a:ext cx="5134356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8D4D76-12A9-09BB-7DC4-C1DB6FAD8684}"/>
              </a:ext>
            </a:extLst>
          </p:cNvPr>
          <p:cNvSpPr txBox="1"/>
          <p:nvPr/>
        </p:nvSpPr>
        <p:spPr>
          <a:xfrm>
            <a:off x="7705268" y="2475060"/>
            <a:ext cx="269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Quem deve seguir?</a:t>
            </a:r>
            <a:endParaRPr lang="pt-BR" sz="1800"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4" name="Google Shape;97;p14">
            <a:extLst>
              <a:ext uri="{FF2B5EF4-FFF2-40B4-BE49-F238E27FC236}">
                <a16:creationId xmlns:a16="http://schemas.microsoft.com/office/drawing/2014/main" id="{2269B9F9-C7A6-EB89-2B26-F31874C5623C}"/>
              </a:ext>
            </a:extLst>
          </p:cNvPr>
          <p:cNvSpPr txBox="1"/>
          <p:nvPr/>
        </p:nvSpPr>
        <p:spPr>
          <a:xfrm>
            <a:off x="6822186" y="2979478"/>
            <a:ext cx="4462273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Esta política é mandatória e aplica-se de forma integral a todos os colaboradores, estagiários, aprendizes, prestadores de serviços, terceiros, parceiros de negócios e quaisquer outros usuários autorizados que utilizem ou acessem sistemas e recursos tecnológicos sob gestão da Ecosmetics.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7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90762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0762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81287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62025" y="3305175"/>
            <a:ext cx="2711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Garantia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que 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informação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seja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acessível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apenas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pessoas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devidamente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autorizadas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681287"/>
            <a:ext cx="27114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4740175" y="3305175"/>
            <a:ext cx="27114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Preservação da exatidão e confiabilidade das informações e métodos de processamento.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681287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518475" y="3305175"/>
            <a:ext cx="2711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Garantia de que usuários autorizados tenham acesso à informação sempre que necessário.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PRINCÍPIOS FUNDAMENTAIS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607506" y="274796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Confidencialidade</a:t>
            </a:r>
            <a:endParaRPr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280875" y="2747962"/>
            <a:ext cx="20983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Integridade</a:t>
            </a:r>
            <a:endParaRPr dirty="0">
              <a:solidFill>
                <a:srgbClr val="10B98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059257" y="274796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Disponibilidade</a:t>
            </a:r>
            <a:endParaRPr dirty="0">
              <a:solidFill>
                <a:srgbClr val="10B98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6897" y="2238374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90762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0762"/>
            <a:ext cx="34924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23560" y="3177920"/>
            <a:ext cx="3053496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Gerenciar acessos corporativos, implementar controles de defesa, executar rotinas de backups, mitigar vulnerabilidades e conduzir treinamentos internos de segurança cibernética.</a:t>
            </a:r>
            <a:endParaRPr sz="1100" dirty="0">
              <a:solidFill>
                <a:schemeClr val="bg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MATRIZ DE RESPONSABILIDADES</a:t>
            </a:r>
            <a:endParaRPr dirty="0"/>
          </a:p>
        </p:txBody>
      </p:sp>
      <p:sp>
        <p:nvSpPr>
          <p:cNvPr id="103" name="Google Shape;103;p14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ráfico 4" descr="Computador com preenchimento sólido">
            <a:extLst>
              <a:ext uri="{FF2B5EF4-FFF2-40B4-BE49-F238E27FC236}">
                <a16:creationId xmlns:a16="http://schemas.microsoft.com/office/drawing/2014/main" id="{B45FA194-6D2A-F854-8FB1-2CD3062313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025" y="2405157"/>
            <a:ext cx="759524" cy="75952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3D33E16-73D1-A056-55CA-E82A7F08742E}"/>
              </a:ext>
            </a:extLst>
          </p:cNvPr>
          <p:cNvSpPr txBox="1"/>
          <p:nvPr/>
        </p:nvSpPr>
        <p:spPr>
          <a:xfrm>
            <a:off x="1838212" y="2623101"/>
            <a:ext cx="197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Tecnologia</a:t>
            </a:r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Montserrat" panose="00000500000000000000" pitchFamily="2" charset="0"/>
              </a:rPr>
              <a:t> (TI)</a:t>
            </a:r>
            <a:endParaRPr lang="pt-BR" sz="1800" dirty="0">
              <a:solidFill>
                <a:srgbClr val="10B981"/>
              </a:solidFill>
            </a:endParaRPr>
          </a:p>
        </p:txBody>
      </p:sp>
      <p:pic>
        <p:nvPicPr>
          <p:cNvPr id="8" name="Gráfico 7" descr="Marketing com preenchimento sólido">
            <a:extLst>
              <a:ext uri="{FF2B5EF4-FFF2-40B4-BE49-F238E27FC236}">
                <a16:creationId xmlns:a16="http://schemas.microsoft.com/office/drawing/2014/main" id="{E3707738-0B8A-C3FD-5756-345DE249F7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684988" y="2455343"/>
            <a:ext cx="759524" cy="759524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5D714883-34DC-B882-EF3E-12374B44D9F1}"/>
              </a:ext>
            </a:extLst>
          </p:cNvPr>
          <p:cNvSpPr txBox="1"/>
          <p:nvPr/>
        </p:nvSpPr>
        <p:spPr>
          <a:xfrm>
            <a:off x="5439582" y="2645676"/>
            <a:ext cx="197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Gestores</a:t>
            </a:r>
            <a:endParaRPr lang="pt-BR" sz="1800"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" name="Google Shape;97;p14">
            <a:extLst>
              <a:ext uri="{FF2B5EF4-FFF2-40B4-BE49-F238E27FC236}">
                <a16:creationId xmlns:a16="http://schemas.microsoft.com/office/drawing/2014/main" id="{C3EB6FF8-2AFC-C6CF-775E-F2A4455A29D8}"/>
              </a:ext>
            </a:extLst>
          </p:cNvPr>
          <p:cNvSpPr txBox="1"/>
          <p:nvPr/>
        </p:nvSpPr>
        <p:spPr>
          <a:xfrm>
            <a:off x="4576875" y="3182861"/>
            <a:ext cx="3053496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Monitorar as equipes para garantir o cumprimento estrito desta política, fomentar a mentalidade preventiva de proteção e reportar incidentes detectados de forma ágil.</a:t>
            </a:r>
            <a:endParaRPr sz="1000" dirty="0">
              <a:solidFill>
                <a:schemeClr val="bg1"/>
              </a:solidFill>
            </a:endParaRPr>
          </a:p>
        </p:txBody>
      </p:sp>
      <p:pic>
        <p:nvPicPr>
          <p:cNvPr id="11" name="Gráfico 10" descr="Call center com preenchimento sólido">
            <a:extLst>
              <a:ext uri="{FF2B5EF4-FFF2-40B4-BE49-F238E27FC236}">
                <a16:creationId xmlns:a16="http://schemas.microsoft.com/office/drawing/2014/main" id="{4E8F4F35-5F6A-F484-AEF0-4CC4F63881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404588" y="2463260"/>
            <a:ext cx="759524" cy="75952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1F27F7-CA14-5B26-69C5-F5D8AEB66D61}"/>
              </a:ext>
            </a:extLst>
          </p:cNvPr>
          <p:cNvSpPr txBox="1"/>
          <p:nvPr/>
        </p:nvSpPr>
        <p:spPr>
          <a:xfrm>
            <a:off x="9164112" y="2658356"/>
            <a:ext cx="197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10B981"/>
                </a:solidFill>
                <a:effectLst/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Colaboradores</a:t>
            </a:r>
          </a:p>
        </p:txBody>
      </p:sp>
      <p:sp>
        <p:nvSpPr>
          <p:cNvPr id="13" name="Google Shape;97;p14">
            <a:extLst>
              <a:ext uri="{FF2B5EF4-FFF2-40B4-BE49-F238E27FC236}">
                <a16:creationId xmlns:a16="http://schemas.microsoft.com/office/drawing/2014/main" id="{9EAB40B9-85C8-07DF-9616-B02E7A25A668}"/>
              </a:ext>
            </a:extLst>
          </p:cNvPr>
          <p:cNvSpPr txBox="1"/>
          <p:nvPr/>
        </p:nvSpPr>
        <p:spPr>
          <a:xfrm>
            <a:off x="8376746" y="3206187"/>
            <a:ext cx="305349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Zelar pelas credenciais e equipamentos concedidos, manter sigilo das informações de trabalho e relatar de imediato suspeitas de fraude ou anomalias.</a:t>
            </a:r>
            <a:endParaRPr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309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04975"/>
            <a:ext cx="533400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1922115"/>
            <a:ext cx="5334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Autenticação</a:t>
            </a:r>
            <a:r>
              <a:rPr lang="en-US" sz="1800" b="1" i="0" u="none" strike="noStrike" cap="none" dirty="0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 </a:t>
            </a:r>
            <a:r>
              <a:rPr lang="en-US" sz="1800" b="1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Centralizada</a:t>
            </a:r>
            <a:endParaRPr lang="en-US" sz="1800" b="1" i="0" u="none" strike="noStrike" cap="none"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  <a:sym typeface="Inter Medium"/>
            </a:endParaRPr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14500"/>
            <a:ext cx="5314950" cy="4267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5" name="Google Shape;115;p15"/>
          <p:cNvSpPr txBox="1"/>
          <p:nvPr/>
        </p:nvSpPr>
        <p:spPr>
          <a:xfrm>
            <a:off x="952500" y="257353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Acesso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terminais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realizado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exclusivamente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via login de rede (AD).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52500" y="337363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Permissões baseadas estritamente no perfil da função exercida.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952500" y="417373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Rastreabilidade total de logins e atividades nos terminais corporativos.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952500" y="4973835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Revogação automática de acessos em casos de desligamento ou movimentação.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ACESSO VIA ACTIVE DIRECTORY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5312" y="270123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49111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4367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7806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2547937"/>
            <a:ext cx="53340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0" i="0" u="none" strike="noStrike" cap="none">
                <a:solidFill>
                  <a:srgbClr val="10B98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0%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3976687"/>
            <a:ext cx="5334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 COMPARTILHAMENTO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4538662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É TERMINANTEMENTE PROIBIDO O COMPARTILHAMENTO DE SENHAS.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GESTÃO DE CREDENCIAIS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93;p14" descr="image.png">
            <a:extLst>
              <a:ext uri="{FF2B5EF4-FFF2-40B4-BE49-F238E27FC236}">
                <a16:creationId xmlns:a16="http://schemas.microsoft.com/office/drawing/2014/main" id="{4622C92F-3F5D-8049-23E8-34A319C0B7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0" y="1824703"/>
            <a:ext cx="5437475" cy="3771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477000" y="2256948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Urbanist"/>
              </a:rPr>
              <a:t>Regras</a:t>
            </a:r>
            <a:r>
              <a:rPr 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de 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Ouro</a:t>
            </a:r>
            <a:r>
              <a:rPr 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dirty="0">
              <a:solidFill>
                <a:srgbClr val="10B981"/>
              </a:solidFill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6462712" y="2675856"/>
            <a:ext cx="4552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1. As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credenciais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são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pessoais</a:t>
            </a: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5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intransferíveis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477000" y="3140246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2. 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usuário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é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responsável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legal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qualquer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ação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realizada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com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login.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477000" y="3883580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3. Utilize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autenticação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multifator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(MFA) sempre que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disponível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477000" y="4556092"/>
            <a:ext cx="4552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Altere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senha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imediatamente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caso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suspeita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vazamento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0762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90762"/>
            <a:ext cx="3492549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290762"/>
            <a:ext cx="34924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81287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62025" y="3320035"/>
            <a:ext cx="2711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Arquivos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devem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ser salvos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obrigatoriamente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no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servidor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dentro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da pasta do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setor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respectivo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0175" y="2681287"/>
            <a:ext cx="27114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740175" y="3320035"/>
            <a:ext cx="271149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Dados salvos no servidor de arquivos possuem rotina de backup garantida pela TI.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8475" y="2681287"/>
            <a:ext cx="2711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518475" y="3320035"/>
            <a:ext cx="27113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Evite salvar documentos críticos na área de trabalho ou pastas locais (C:) dos terminais.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ARMAZENAMENTO ESTRUTURADO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607506" y="274796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Pastas 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Setoriais</a:t>
            </a:r>
            <a:endParaRPr dirty="0">
              <a:solidFill>
                <a:srgbClr val="10B981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385650" y="2747962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Backup </a:t>
            </a: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Automático</a:t>
            </a:r>
            <a:endParaRPr dirty="0">
              <a:solidFill>
                <a:srgbClr val="10B981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9059183" y="2747962"/>
            <a:ext cx="284691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Proibição</a:t>
            </a:r>
            <a:r>
              <a:rPr lang="en-US" sz="2100" b="1" i="0" u="none" strike="noStrike" cap="none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Local</a:t>
            </a:r>
            <a:endParaRPr dirty="0">
              <a:solidFill>
                <a:srgbClr val="10B98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ARMAZENAMENTO ESTRUTURADO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1FE01C-7AE1-6E4D-E84A-BD4A88ED4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655" y="1922114"/>
            <a:ext cx="4333875" cy="419365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13;p15">
            <a:extLst>
              <a:ext uri="{FF2B5EF4-FFF2-40B4-BE49-F238E27FC236}">
                <a16:creationId xmlns:a16="http://schemas.microsoft.com/office/drawing/2014/main" id="{59610A66-BD33-3DF6-7027-0DF661A50E95}"/>
              </a:ext>
            </a:extLst>
          </p:cNvPr>
          <p:cNvSpPr txBox="1"/>
          <p:nvPr/>
        </p:nvSpPr>
        <p:spPr>
          <a:xfrm>
            <a:off x="571500" y="1922115"/>
            <a:ext cx="5334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Orientações</a:t>
            </a:r>
            <a:r>
              <a:rPr lang="en-US" sz="1800" b="0" i="0" u="none" strike="noStrike" cap="none" dirty="0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 de </a:t>
            </a:r>
            <a:r>
              <a:rPr lang="en-US" sz="1800" b="0" i="0" u="none" strike="noStrike" cap="none" dirty="0" err="1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Medium"/>
              </a:rPr>
              <a:t>Armazenamento</a:t>
            </a:r>
            <a:endParaRPr dirty="0">
              <a:solidFill>
                <a:srgbClr val="10B98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3" name="Google Shape;115;p15">
            <a:extLst>
              <a:ext uri="{FF2B5EF4-FFF2-40B4-BE49-F238E27FC236}">
                <a16:creationId xmlns:a16="http://schemas.microsoft.com/office/drawing/2014/main" id="{C17869A1-B1E7-EAE5-DD24-0204E37D059D}"/>
              </a:ext>
            </a:extLst>
          </p:cNvPr>
          <p:cNvSpPr txBox="1"/>
          <p:nvPr/>
        </p:nvSpPr>
        <p:spPr>
          <a:xfrm>
            <a:off x="946880" y="2482095"/>
            <a:ext cx="637184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Todos os documentos corporativos devem ser armazenados rigorosamente dentro das pastas designadas no servidor para o seu setor específico.</a:t>
            </a: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4" name="Google Shape;121;p15" descr="image.png">
            <a:extLst>
              <a:ext uri="{FF2B5EF4-FFF2-40B4-BE49-F238E27FC236}">
                <a16:creationId xmlns:a16="http://schemas.microsoft.com/office/drawing/2014/main" id="{40FC7800-3B82-F9D9-9FB5-5683DAA91EC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73535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15;p15">
            <a:extLst>
              <a:ext uri="{FF2B5EF4-FFF2-40B4-BE49-F238E27FC236}">
                <a16:creationId xmlns:a16="http://schemas.microsoft.com/office/drawing/2014/main" id="{B772EB33-0EA0-4385-9882-ADB60C5167BD}"/>
              </a:ext>
            </a:extLst>
          </p:cNvPr>
          <p:cNvSpPr txBox="1"/>
          <p:nvPr/>
        </p:nvSpPr>
        <p:spPr>
          <a:xfrm>
            <a:off x="946880" y="3530443"/>
            <a:ext cx="637184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É expressamente proibido manter cópias de arquivos contendo dados corporativos ou dados pessoais armazenados localmente na área de trabalho (Desktop) ou no disco C: do computador de forma definitiva.</a:t>
            </a: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6" name="Google Shape;121;p15" descr="image.png">
            <a:extLst>
              <a:ext uri="{FF2B5EF4-FFF2-40B4-BE49-F238E27FC236}">
                <a16:creationId xmlns:a16="http://schemas.microsoft.com/office/drawing/2014/main" id="{A5B48ACD-2471-3BE3-6D9A-02584753E63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21883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15;p15">
            <a:extLst>
              <a:ext uri="{FF2B5EF4-FFF2-40B4-BE49-F238E27FC236}">
                <a16:creationId xmlns:a16="http://schemas.microsoft.com/office/drawing/2014/main" id="{D500DBD2-C964-17AA-68A4-AB6FC1D56E28}"/>
              </a:ext>
            </a:extLst>
          </p:cNvPr>
          <p:cNvSpPr txBox="1"/>
          <p:nvPr/>
        </p:nvSpPr>
        <p:spPr>
          <a:xfrm>
            <a:off x="994505" y="5007771"/>
            <a:ext cx="637184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O controle de permissões no servidor é atrelado ao Active </a:t>
            </a:r>
            <a:r>
              <a:rPr lang="pt-BR" sz="1500" b="0" i="0" u="none" strike="noStrike" dirty="0" err="1">
                <a:solidFill>
                  <a:schemeClr val="bg1"/>
                </a:solidFill>
                <a:effectLst/>
                <a:latin typeface="Inter" panose="020B0604020202020204" charset="0"/>
              </a:rPr>
              <a:t>Directory</a:t>
            </a:r>
            <a:r>
              <a:rPr lang="pt-BR" sz="1500" b="0" i="0" u="none" strike="noStrike" dirty="0">
                <a:solidFill>
                  <a:schemeClr val="bg1"/>
                </a:solidFill>
                <a:effectLst/>
                <a:latin typeface="Inter" panose="020B0604020202020204" charset="0"/>
              </a:rPr>
              <a:t>, garantindo que apenas membros autorizados de cada departamento acessem suas respectivas pastas.</a:t>
            </a: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10" name="Google Shape;121;p15" descr="image.png">
            <a:extLst>
              <a:ext uri="{FF2B5EF4-FFF2-40B4-BE49-F238E27FC236}">
                <a16:creationId xmlns:a16="http://schemas.microsoft.com/office/drawing/2014/main" id="{3B50F17D-69AC-741E-AE0B-6B4643248D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509921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5301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CLASIFICAÇÃO DA INFORMAÇÃO</a:t>
            </a:r>
            <a:endParaRPr dirty="0"/>
          </a:p>
        </p:txBody>
      </p:sp>
      <p:sp>
        <p:nvSpPr>
          <p:cNvPr id="156" name="Google Shape;156;p17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BC3D7195-87E6-9C30-742C-6FC3873E3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562655"/>
              </p:ext>
            </p:extLst>
          </p:nvPr>
        </p:nvGraphicFramePr>
        <p:xfrm>
          <a:off x="571500" y="1389888"/>
          <a:ext cx="11059668" cy="4809746"/>
        </p:xfrm>
        <a:graphic>
          <a:graphicData uri="http://schemas.openxmlformats.org/drawingml/2006/table">
            <a:tbl>
              <a:tblPr/>
              <a:tblGrid>
                <a:gridCol w="1722813">
                  <a:extLst>
                    <a:ext uri="{9D8B030D-6E8A-4147-A177-3AD203B41FA5}">
                      <a16:colId xmlns:a16="http://schemas.microsoft.com/office/drawing/2014/main" val="2369950885"/>
                    </a:ext>
                  </a:extLst>
                </a:gridCol>
                <a:gridCol w="4940711">
                  <a:extLst>
                    <a:ext uri="{9D8B030D-6E8A-4147-A177-3AD203B41FA5}">
                      <a16:colId xmlns:a16="http://schemas.microsoft.com/office/drawing/2014/main" val="1686877980"/>
                    </a:ext>
                  </a:extLst>
                </a:gridCol>
                <a:gridCol w="4396144">
                  <a:extLst>
                    <a:ext uri="{9D8B030D-6E8A-4147-A177-3AD203B41FA5}">
                      <a16:colId xmlns:a16="http://schemas.microsoft.com/office/drawing/2014/main" val="841217066"/>
                    </a:ext>
                  </a:extLst>
                </a:gridCol>
              </a:tblGrid>
              <a:tr h="582634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Classificação</a:t>
                      </a:r>
                      <a:endParaRPr lang="pt-BR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Definição / Diretriz</a:t>
                      </a:r>
                      <a:endParaRPr lang="pt-BR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Exemplos de Ativos</a:t>
                      </a:r>
                      <a:endParaRPr lang="pt-BR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860404"/>
                  </a:ext>
                </a:extLst>
              </a:tr>
              <a:tr h="105677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Pública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Informações de livre divulgação que podem ser acessadas pelo público geral sem riscos à empresa.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Campanhas publicitárias, portfólio de produtos públicos, vagas abertas.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568128"/>
                  </a:ext>
                </a:extLst>
              </a:tr>
              <a:tr h="105677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Uso Interno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Uso exclusivo para colaboradores da Ecosmetics. Divulgação externa não autorizada.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Procedimentos internos, comunicados da gestão, organogramas corporativos.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959177"/>
                  </a:ext>
                </a:extLst>
              </a:tr>
              <a:tr h="105677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Confidencial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Restrito a áreas ou grupos específicos de trabalho. Divulgação pode causar prejuízos sérios.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Dados cadastrais de clientes, relatórios financeiros de área, contratos de fornecedores.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133039"/>
                  </a:ext>
                </a:extLst>
              </a:tr>
              <a:tr h="1056778"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Restrita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Alto impacto estratégico. Acesso limitado apenas à alta gestão ou pessoas expressamente nomeadas.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Inter" panose="020B0604020202020204" charset="0"/>
                        </a:rPr>
                        <a:t>Fórmulas químicas de produtos, planejamentos de fusão, dados de DPO e diretoria.</a:t>
                      </a:r>
                      <a:endParaRPr lang="pt-BR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573" marR="51573" marT="22103" marB="22103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4318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099EFEF-F118-D756-19A5-6E4C7F574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5733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8897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4975"/>
            <a:ext cx="53340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714500"/>
            <a:ext cx="5314950" cy="4267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2" name="Google Shape;192;p19"/>
          <p:cNvSpPr txBox="1"/>
          <p:nvPr/>
        </p:nvSpPr>
        <p:spPr>
          <a:xfrm>
            <a:off x="6212967" y="1762125"/>
            <a:ext cx="5334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10B98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  <a:sym typeface="Inter SemiBold"/>
              </a:rPr>
              <a:t>É PROIBIDO:</a:t>
            </a:r>
            <a:endParaRPr sz="1800" b="1" dirty="0"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6603111" y="2127289"/>
            <a:ext cx="50916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Instalar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softwares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ou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extensões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sem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aprovação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da TI.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586537" y="2606159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Usar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recursos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corporativos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para fins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ilícitos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594824" y="3024496"/>
            <a:ext cx="510825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Utilizar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contas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pessoais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(Gmail, Outlook) para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documentos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empresa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586537" y="3879127"/>
            <a:ext cx="5333999" cy="71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Inserir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dados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confidenciais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IAs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públicas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(ChatGPT).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</a:br>
            <a:endParaRPr dirty="0">
              <a:solidFill>
                <a:schemeClr val="bg1"/>
              </a:solidFill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USO DE RECURSOS DE TI</a:t>
            </a:r>
            <a:endParaRPr dirty="0"/>
          </a:p>
        </p:txBody>
      </p:sp>
      <p:sp>
        <p:nvSpPr>
          <p:cNvPr id="198" name="Google Shape;198;p19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2967" y="226923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12967" y="268712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05537" y="3124200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6679" y="4036123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202;p19" descr="image.png">
            <a:extLst>
              <a:ext uri="{FF2B5EF4-FFF2-40B4-BE49-F238E27FC236}">
                <a16:creationId xmlns:a16="http://schemas.microsoft.com/office/drawing/2014/main" id="{FE566C1D-703A-47CC-4155-F80C62EA8AF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5158" y="453066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96;p19">
            <a:extLst>
              <a:ext uri="{FF2B5EF4-FFF2-40B4-BE49-F238E27FC236}">
                <a16:creationId xmlns:a16="http://schemas.microsoft.com/office/drawing/2014/main" id="{46C778EE-9E10-050E-271A-9C6682C416CE}"/>
              </a:ext>
            </a:extLst>
          </p:cNvPr>
          <p:cNvSpPr txBox="1"/>
          <p:nvPr/>
        </p:nvSpPr>
        <p:spPr>
          <a:xfrm>
            <a:off x="6603111" y="4373665"/>
            <a:ext cx="5333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Solicitar assistência técnica ou intervenções nos recursos tecnológicos da empresa a qualquer colaborador que não faça parte da equipe oficial de TI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</a:br>
            <a:endParaRPr sz="1500" dirty="0">
              <a:solidFill>
                <a:schemeClr val="bg1"/>
              </a:solidFill>
            </a:endParaRPr>
          </a:p>
        </p:txBody>
      </p:sp>
      <p:pic>
        <p:nvPicPr>
          <p:cNvPr id="6" name="Google Shape;202;p19" descr="image.png">
            <a:extLst>
              <a:ext uri="{FF2B5EF4-FFF2-40B4-BE49-F238E27FC236}">
                <a16:creationId xmlns:a16="http://schemas.microsoft.com/office/drawing/2014/main" id="{307F29DF-645E-A459-F10B-5D758273E6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26679" y="5702997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E6C8DC4-CC7C-F82E-F210-2EF2AB546101}"/>
              </a:ext>
            </a:extLst>
          </p:cNvPr>
          <p:cNvSpPr txBox="1"/>
          <p:nvPr/>
        </p:nvSpPr>
        <p:spPr>
          <a:xfrm>
            <a:off x="6462712" y="5547836"/>
            <a:ext cx="54743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É vedada a permanência de recipientes de líquidos (como copos e canecas) que não sejam hermeticamente fechados por tampa de rosca nas proximidades de computadores, notebooks e periféricos da empresa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47837"/>
            <a:ext cx="5334000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47837"/>
            <a:ext cx="5334000" cy="42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38362"/>
            <a:ext cx="16097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138362"/>
            <a:ext cx="12668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1343025" y="3157537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Exclusivo: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Terminais e dispositivos de trabalho.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343025" y="3957637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Acesso: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Comunicação direta com o servidor de arquivos e ERP.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343025" y="4757737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Restrição: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Dispositivos pessoais não autorizados.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058025" y="3157537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Celulares (corporativos/pessoais) e Visitantes.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058025" y="3957637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Perfil: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Navegação isolada da rede de dados sensíveis.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058025" y="4757737"/>
            <a:ext cx="41719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Segurança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permite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comunicação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  a rede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corporativa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762000" y="571500"/>
            <a:ext cx="114014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DIRETRIZES DE WI-FI</a:t>
            </a:r>
            <a:endParaRPr dirty="0"/>
          </a:p>
        </p:txBody>
      </p:sp>
      <p:sp>
        <p:nvSpPr>
          <p:cNvPr id="176" name="Google Shape;176;p18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962025" y="2605087"/>
            <a:ext cx="4780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ECS - INTERNO</a:t>
            </a:r>
            <a:endParaRPr lang="en-US" dirty="0"/>
          </a:p>
        </p:txBody>
      </p:sp>
      <p:sp>
        <p:nvSpPr>
          <p:cNvPr id="178" name="Google Shape;178;p18"/>
          <p:cNvSpPr txBox="1"/>
          <p:nvPr/>
        </p:nvSpPr>
        <p:spPr>
          <a:xfrm>
            <a:off x="6677025" y="2605087"/>
            <a:ext cx="478059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EA5E9"/>
                </a:solidFill>
                <a:latin typeface="Urbanist"/>
                <a:ea typeface="Urbanist"/>
                <a:cs typeface="Urbanist"/>
                <a:sym typeface="Urbanist"/>
              </a:rPr>
              <a:t>ECS - EXTERNO</a:t>
            </a:r>
            <a:endParaRPr dirty="0"/>
          </a:p>
        </p:txBody>
      </p:sp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1575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39576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2025" y="47577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31575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39576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47577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1085850"/>
            <a:ext cx="526732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realizar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atividades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fora da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empresa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, a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responsabilidade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com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dados é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redobrada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209" name="Google Shape;20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919161" y="2755880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Evitar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redes Wi-Fi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públicas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919161" y="3254812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Impedir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acesso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familiares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aos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equipamentos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profissionais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04848" y="413147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TRABALHO REMOTO</a:t>
            </a:r>
            <a:endParaRPr dirty="0"/>
          </a:p>
        </p:txBody>
      </p:sp>
      <p:pic>
        <p:nvPicPr>
          <p:cNvPr id="215" name="Google Shape;21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1214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86440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5977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123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10;p20">
            <a:extLst>
              <a:ext uri="{FF2B5EF4-FFF2-40B4-BE49-F238E27FC236}">
                <a16:creationId xmlns:a16="http://schemas.microsoft.com/office/drawing/2014/main" id="{C3D6AC1E-A6DF-1E88-A9FD-8897B65BA6F5}"/>
              </a:ext>
            </a:extLst>
          </p:cNvPr>
          <p:cNvSpPr txBox="1"/>
          <p:nvPr/>
        </p:nvSpPr>
        <p:spPr>
          <a:xfrm>
            <a:off x="919161" y="2016680"/>
            <a:ext cx="4572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Utilizar apenas dispositivos protegidos por senha forte.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4" name="Google Shape;213;p20">
            <a:extLst>
              <a:ext uri="{FF2B5EF4-FFF2-40B4-BE49-F238E27FC236}">
                <a16:creationId xmlns:a16="http://schemas.microsoft.com/office/drawing/2014/main" id="{CCBFC2C8-8F9D-AC13-04FE-3ED7963103F3}"/>
              </a:ext>
            </a:extLst>
          </p:cNvPr>
          <p:cNvSpPr txBox="1"/>
          <p:nvPr/>
        </p:nvSpPr>
        <p:spPr>
          <a:xfrm>
            <a:off x="919160" y="4043327"/>
            <a:ext cx="491966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chemeClr val="bg1"/>
                </a:solidFill>
                <a:latin typeface="Inter" panose="020B0604020202020204" charset="0"/>
                <a:ea typeface="Inter" panose="020B0604020202020204" charset="0"/>
              </a:rPr>
              <a:t>Caso o colaborador em regime presencial necessite retirar equipamentos das dependências da fábrica por motivos de força maior (saúde ou viagens a trabalho), é obrigatório formalizar a solicitação por e-mail ao gestor do setor e à área de TI, com antecedência, para a realização do checklist de segurança e liberação do dispositivo.</a:t>
            </a:r>
            <a:endParaRPr sz="1500" dirty="0">
              <a:solidFill>
                <a:schemeClr val="bg1"/>
              </a:solidFill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" name="Google Shape;198;p19">
            <a:extLst>
              <a:ext uri="{FF2B5EF4-FFF2-40B4-BE49-F238E27FC236}">
                <a16:creationId xmlns:a16="http://schemas.microsoft.com/office/drawing/2014/main" id="{32EA8E41-3559-95E9-3612-9F18363F7A53}"/>
              </a:ext>
            </a:extLst>
          </p:cNvPr>
          <p:cNvSpPr/>
          <p:nvPr/>
        </p:nvSpPr>
        <p:spPr>
          <a:xfrm>
            <a:off x="571498" y="401574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6603111" y="2127289"/>
            <a:ext cx="50916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E-mail </a:t>
            </a:r>
            <a:r>
              <a:rPr lang="en-US" sz="1500" dirty="0" err="1">
                <a:solidFill>
                  <a:schemeClr val="bg1"/>
                </a:solidFill>
                <a:latin typeface="Inter"/>
                <a:ea typeface="Inter"/>
                <a:sym typeface="Inter"/>
              </a:rPr>
              <a:t>corporativo</a:t>
            </a:r>
            <a:r>
              <a:rPr lang="en-US" sz="1500" dirty="0">
                <a:solidFill>
                  <a:schemeClr val="bg1"/>
                </a:solidFill>
                <a:latin typeface="Inter"/>
                <a:ea typeface="Inter"/>
                <a:sym typeface="Inter"/>
              </a:rPr>
              <a:t>: ti@ecosmetics.com.br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586537" y="2560089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Ramal </a:t>
            </a:r>
            <a:r>
              <a:rPr lang="en-US" sz="1500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elefônico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-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Fábrica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 0904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603111" y="3862740"/>
            <a:ext cx="51082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WhatsApp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62000" y="571500"/>
            <a:ext cx="890091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CANAIS PARA COMUNICAÇÃO DE INCIDENTES</a:t>
            </a:r>
            <a:endParaRPr dirty="0"/>
          </a:p>
        </p:txBody>
      </p:sp>
      <p:sp>
        <p:nvSpPr>
          <p:cNvPr id="198" name="Google Shape;198;p19"/>
          <p:cNvSpPr/>
          <p:nvPr/>
        </p:nvSpPr>
        <p:spPr>
          <a:xfrm>
            <a:off x="571500" y="571500"/>
            <a:ext cx="47625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967" y="226923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967" y="26410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3824" y="3962444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94;p19">
            <a:extLst>
              <a:ext uri="{FF2B5EF4-FFF2-40B4-BE49-F238E27FC236}">
                <a16:creationId xmlns:a16="http://schemas.microsoft.com/office/drawing/2014/main" id="{C5B1DDC4-7D4B-E10E-11B2-AA1646B81A21}"/>
              </a:ext>
            </a:extLst>
          </p:cNvPr>
          <p:cNvSpPr txBox="1"/>
          <p:nvPr/>
        </p:nvSpPr>
        <p:spPr>
          <a:xfrm>
            <a:off x="6586537" y="2992889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Telefone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Celular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– Marcone: 073 - 99937-8250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Google Shape;200;p19" descr="image.png">
            <a:extLst>
              <a:ext uri="{FF2B5EF4-FFF2-40B4-BE49-F238E27FC236}">
                <a16:creationId xmlns:a16="http://schemas.microsoft.com/office/drawing/2014/main" id="{AD6797C6-3C22-DFAF-F438-FA61129CBF0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967" y="307385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94;p19">
            <a:extLst>
              <a:ext uri="{FF2B5EF4-FFF2-40B4-BE49-F238E27FC236}">
                <a16:creationId xmlns:a16="http://schemas.microsoft.com/office/drawing/2014/main" id="{2F090AE6-5F35-3685-F05A-23F32BBFA01E}"/>
              </a:ext>
            </a:extLst>
          </p:cNvPr>
          <p:cNvSpPr txBox="1"/>
          <p:nvPr/>
        </p:nvSpPr>
        <p:spPr>
          <a:xfrm>
            <a:off x="6586537" y="3425689"/>
            <a:ext cx="4953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Telefone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Celular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– Daniel: 073 - 9902-6207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9" name="Google Shape;200;p19" descr="image.png">
            <a:extLst>
              <a:ext uri="{FF2B5EF4-FFF2-40B4-BE49-F238E27FC236}">
                <a16:creationId xmlns:a16="http://schemas.microsoft.com/office/drawing/2014/main" id="{90E6E50E-6175-960A-3027-4779838A14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2967" y="3506651"/>
            <a:ext cx="1714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95;p19">
            <a:extLst>
              <a:ext uri="{FF2B5EF4-FFF2-40B4-BE49-F238E27FC236}">
                <a16:creationId xmlns:a16="http://schemas.microsoft.com/office/drawing/2014/main" id="{C925391C-6C1F-831A-2E3F-260D325A08EA}"/>
              </a:ext>
            </a:extLst>
          </p:cNvPr>
          <p:cNvSpPr txBox="1"/>
          <p:nvPr/>
        </p:nvSpPr>
        <p:spPr>
          <a:xfrm>
            <a:off x="6603111" y="4232072"/>
            <a:ext cx="51082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Forms –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Planilha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500" b="0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Chamados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1" name="Google Shape;201;p19" descr="image.png">
            <a:extLst>
              <a:ext uri="{FF2B5EF4-FFF2-40B4-BE49-F238E27FC236}">
                <a16:creationId xmlns:a16="http://schemas.microsoft.com/office/drawing/2014/main" id="{EDA4CDC3-1C41-BE0A-A223-5E4F97DF236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13824" y="433177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1;p19" descr="Pessoa de negócios em um computador">
            <a:extLst>
              <a:ext uri="{FF2B5EF4-FFF2-40B4-BE49-F238E27FC236}">
                <a16:creationId xmlns:a16="http://schemas.microsoft.com/office/drawing/2014/main" id="{855ED3AB-E494-2503-0C27-A1BA8208872B}"/>
              </a:ext>
            </a:extLst>
          </p:cNvPr>
          <p:cNvPicPr preferRelativeResize="0"/>
          <p:nvPr/>
        </p:nvPicPr>
        <p:blipFill>
          <a:blip r:embed="rId5"/>
          <a:srcRect/>
          <a:stretch/>
        </p:blipFill>
        <p:spPr>
          <a:xfrm>
            <a:off x="641794" y="2127290"/>
            <a:ext cx="5314950" cy="3230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71841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7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03240"/>
            <a:ext cx="11049000" cy="1449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81368"/>
            <a:ext cx="110490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571500" y="366132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857250" y="4239017"/>
            <a:ext cx="10477500" cy="150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5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6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Relate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qualquer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suspeita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vazamento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1" i="0" u="none" strike="noStrike" cap="none" dirty="0" err="1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imediatamente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6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DPO:</a:t>
            </a:r>
            <a: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dpo@ecosmetics.com.br</a:t>
            </a:r>
            <a:br>
              <a:rPr lang="en-US" sz="15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 b="1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</a:t>
            </a:r>
            <a:r>
              <a:rPr lang="en-US" sz="1400" b="1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ti</a:t>
            </a:r>
            <a:r>
              <a:rPr lang="en-US" sz="1400" b="0" i="0" u="none" strike="noStrike" cap="none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@ecosmetics.com.br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295275" y="271655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DÚVIDAS OU </a:t>
            </a:r>
            <a:r>
              <a:rPr lang="en-US" sz="54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INCIDENTES?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966</Words>
  <Application>Microsoft Office PowerPoint</Application>
  <PresentationFormat>Widescreen</PresentationFormat>
  <Paragraphs>97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2" baseType="lpstr">
      <vt:lpstr>Inter</vt:lpstr>
      <vt:lpstr>Inter ExtraBold</vt:lpstr>
      <vt:lpstr>Urbanist</vt:lpstr>
      <vt:lpstr>Arial</vt:lpstr>
      <vt:lpstr>Montserrat</vt:lpstr>
      <vt:lpstr>Calibri</vt:lpstr>
      <vt:lpstr>Inter SemiBold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Moschen</dc:creator>
  <cp:lastModifiedBy>Daniel Moschen Costa</cp:lastModifiedBy>
  <cp:revision>17</cp:revision>
  <dcterms:modified xsi:type="dcterms:W3CDTF">2026-06-03T17:42:40Z</dcterms:modified>
</cp:coreProperties>
</file>